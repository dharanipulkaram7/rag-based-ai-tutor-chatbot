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1.xml" ContentType="application/inkml+xml"/>
  <Override PartName="/ppt/ink/ink2.xml" ContentType="application/inkml+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83" r:id="rId2"/>
    <p:sldId id="257" r:id="rId3"/>
    <p:sldId id="282" r:id="rId4"/>
    <p:sldId id="285" r:id="rId5"/>
    <p:sldId id="278" r:id="rId6"/>
    <p:sldId id="279" r:id="rId7"/>
    <p:sldId id="292" r:id="rId8"/>
    <p:sldId id="262" r:id="rId9"/>
    <p:sldId id="290" r:id="rId10"/>
    <p:sldId id="286" r:id="rId11"/>
    <p:sldId id="287" r:id="rId12"/>
    <p:sldId id="280" r:id="rId13"/>
    <p:sldId id="288" r:id="rId14"/>
    <p:sldId id="289" r:id="rId15"/>
    <p:sldId id="27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6" autoAdjust="0"/>
    <p:restoredTop sz="94660"/>
  </p:normalViewPr>
  <p:slideViewPr>
    <p:cSldViewPr snapToGrid="0">
      <p:cViewPr varScale="1">
        <p:scale>
          <a:sx n="72" d="100"/>
          <a:sy n="72" d="100"/>
        </p:scale>
        <p:origin x="54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9T08:10:36.310"/>
    </inkml:context>
    <inkml:brush xml:id="br0">
      <inkml:brushProperty name="width" value="0.1" units="cm"/>
      <inkml:brushProperty name="height" value="0.1" units="cm"/>
      <inkml:brushProperty name="color" value="#E71224"/>
    </inkml:brush>
  </inkml:definitions>
  <inkml:trace contextRef="#ctx0" brushRef="#br0">-2147483648-2147483648 16383 0 0,'0'0'0'0'0,"0"0"0"0"0,0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9T08:10:36.311"/>
    </inkml:context>
    <inkml:brush xml:id="br0">
      <inkml:brushProperty name="width" value="0.1" units="cm"/>
      <inkml:brushProperty name="height" value="0.1" units="cm"/>
      <inkml:brushProperty name="color" value="#E71224"/>
    </inkml:brush>
  </inkml:definitions>
  <inkml:trace contextRef="#ctx0" brushRef="#br0">-2147483648-2147483648 16383 0 0,'0'0'0'0'0,"0"0"0"0"0,0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11385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9D317CDF-7DC0-CA5A-918A-D2622AB8A47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C9616B3B-ECE6-F081-F102-9239F316A6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21B32430-2A94-BD8A-6648-48A98697D9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40600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7" Type="http://schemas.openxmlformats.org/officeDocument/2006/relationships/image" Target="../media/image6.png"/><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customXml" Target="../ink/ink2.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smtClean="0"/>
              <a:t>IBM University Engagement Project Submission</a:t>
            </a:r>
            <a:r>
              <a:rPr lang="en-US" b="1" dirty="0" smtClean="0"/>
              <a:t/>
            </a:r>
            <a:br>
              <a:rPr lang="en-US" b="1" dirty="0" smtClean="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Machine Learning with IBM Cloud”</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628735962"/>
              </p:ext>
            </p:extLst>
          </p:nvPr>
        </p:nvGraphicFramePr>
        <p:xfrm>
          <a:off x="1299257" y="2369482"/>
          <a:ext cx="9394989" cy="3580743"/>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160807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972666">
                <a:tc>
                  <a:txBody>
                    <a:bodyPr/>
                    <a:lstStyle/>
                    <a:p>
                      <a:pPr marL="0" marR="0" lvl="0" indent="0" algn="l" rtl="0">
                        <a:spcBef>
                          <a:spcPts val="0"/>
                        </a:spcBef>
                        <a:spcAft>
                          <a:spcPts val="0"/>
                        </a:spcAft>
                        <a:buNone/>
                      </a:pPr>
                      <a:endParaRPr lang="en-IN" dirty="0" smtClean="0"/>
                    </a:p>
                    <a:p>
                      <a:pPr marL="0" marR="0" lvl="0" indent="0" algn="l" rtl="0">
                        <a:spcBef>
                          <a:spcPts val="0"/>
                        </a:spcBef>
                        <a:spcAft>
                          <a:spcPts val="0"/>
                        </a:spcAft>
                        <a:buNone/>
                      </a:pPr>
                      <a:r>
                        <a:rPr lang="en-IN" dirty="0" smtClean="0"/>
                        <a:t>  </a:t>
                      </a:r>
                    </a:p>
                    <a:p>
                      <a:pPr marL="0" marR="0" lvl="0" indent="0" algn="l" rtl="0">
                        <a:spcBef>
                          <a:spcPts val="0"/>
                        </a:spcBef>
                        <a:spcAft>
                          <a:spcPts val="0"/>
                        </a:spcAft>
                        <a:buNone/>
                      </a:pPr>
                      <a:r>
                        <a:rPr lang="en-IN" dirty="0" smtClean="0"/>
                        <a:t>    </a:t>
                      </a:r>
                      <a:r>
                        <a:rPr lang="en-IN" dirty="0" err="1" smtClean="0"/>
                        <a:t>Pulkaram</a:t>
                      </a:r>
                      <a:r>
                        <a:rPr lang="en-IN" dirty="0" smtClean="0"/>
                        <a:t> Dharani</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IN" sz="1800" dirty="0" smtClean="0"/>
                    </a:p>
                    <a:p>
                      <a:endParaRPr lang="en-IN"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smtClean="0"/>
                        <a:t>    </a:t>
                      </a:r>
                    </a:p>
                    <a:p>
                      <a:pPr marL="0" marR="0" lvl="0" indent="0" algn="l" rtl="0">
                        <a:spcBef>
                          <a:spcPts val="0"/>
                        </a:spcBef>
                        <a:spcAft>
                          <a:spcPts val="0"/>
                        </a:spcAft>
                        <a:buNone/>
                      </a:pPr>
                      <a:r>
                        <a:rPr lang="en-IN" baseline="0" dirty="0" smtClean="0"/>
                        <a:t>         </a:t>
                      </a:r>
                      <a:r>
                        <a:rPr lang="en-IN" dirty="0" smtClean="0"/>
                        <a:t>dharanipulkaram3</a:t>
                      </a:r>
                    </a:p>
                    <a:p>
                      <a:pPr marL="0" marR="0" lvl="0" indent="0" algn="l" rtl="0">
                        <a:spcBef>
                          <a:spcPts val="0"/>
                        </a:spcBef>
                        <a:spcAft>
                          <a:spcPts val="0"/>
                        </a:spcAft>
                        <a:buNone/>
                      </a:pPr>
                      <a:r>
                        <a:rPr lang="en-IN" dirty="0" smtClean="0"/>
                        <a:t>         </a:t>
                      </a:r>
                      <a:r>
                        <a:rPr lang="en-IN" baseline="0" dirty="0" smtClean="0"/>
                        <a:t> </a:t>
                      </a:r>
                      <a:r>
                        <a:rPr lang="en-IN" dirty="0" smtClean="0"/>
                        <a:t>@gmail.com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smtClean="0"/>
                        <a:t>     </a:t>
                      </a:r>
                    </a:p>
                    <a:p>
                      <a:pPr marL="0" marR="0" lvl="0" indent="0" algn="l" rtl="0">
                        <a:spcBef>
                          <a:spcPts val="0"/>
                        </a:spcBef>
                        <a:spcAft>
                          <a:spcPts val="0"/>
                        </a:spcAft>
                        <a:buNone/>
                      </a:pPr>
                      <a:r>
                        <a:rPr lang="en-IN" dirty="0" smtClean="0"/>
                        <a:t>   </a:t>
                      </a:r>
                    </a:p>
                    <a:p>
                      <a:pPr marL="0" marR="0" lvl="0" indent="0" algn="l" rtl="0">
                        <a:spcBef>
                          <a:spcPts val="0"/>
                        </a:spcBef>
                        <a:spcAft>
                          <a:spcPts val="0"/>
                        </a:spcAft>
                        <a:buNone/>
                      </a:pPr>
                      <a:r>
                        <a:rPr lang="en-IN" dirty="0" smtClean="0"/>
                        <a:t>              9182894310</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smtClean="0"/>
              <a:t>Domain of  Project – AIML, Educational Technology(</a:t>
            </a:r>
            <a:r>
              <a:rPr lang="en-US" sz="2400" b="1" dirty="0" err="1" smtClean="0"/>
              <a:t>EdTech</a:t>
            </a:r>
            <a:r>
              <a:rPr lang="en-US" sz="2400" b="1" dirty="0" smtClean="0"/>
              <a:t>)</a:t>
            </a:r>
            <a:endParaRPr lang="en-IN" sz="2400" b="1" dirty="0">
              <a:solidFill>
                <a:schemeClr val="tx1"/>
              </a:solidFill>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a:t>
            </a:r>
            <a:r>
              <a:rPr lang="en-US" sz="2400" b="1" dirty="0" smtClean="0"/>
              <a:t>– RAG Based AI Tutor </a:t>
            </a:r>
            <a:r>
              <a:rPr lang="en-US" sz="2400" b="1" dirty="0" err="1" smtClean="0"/>
              <a:t>Chatbot</a:t>
            </a:r>
            <a:endParaRPr lang="en-IN" sz="2400" b="1" dirty="0">
              <a:highlight>
                <a:srgbClr val="FFFF00"/>
              </a:highlight>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44348" y="4062313"/>
            <a:ext cx="2027582" cy="175539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08837" y="864646"/>
            <a:ext cx="11357834" cy="4708981"/>
          </a:xfrm>
          <a:prstGeom prst="rect">
            <a:avLst/>
          </a:prstGeom>
          <a:noFill/>
        </p:spPr>
        <p:txBody>
          <a:bodyPr wrap="square" lIns="91440" tIns="45720" rIns="91440" bIns="45720" rtlCol="0" anchor="t">
            <a:spAutoFit/>
          </a:bodyPr>
          <a:lstStyle/>
          <a:p>
            <a:pPr algn="just"/>
            <a:r>
              <a:rPr lang="en-US" sz="2000" b="1" dirty="0" smtClean="0">
                <a:latin typeface="+mn-lt"/>
              </a:rPr>
              <a:t>Problem </a:t>
            </a:r>
            <a:r>
              <a:rPr lang="en-US" sz="2000" b="1" dirty="0">
                <a:latin typeface="+mn-lt"/>
              </a:rPr>
              <a:t>Statement: </a:t>
            </a:r>
            <a:r>
              <a:rPr lang="en-US" sz="2000" b="1" dirty="0" err="1">
                <a:latin typeface="+mn-lt"/>
              </a:rPr>
              <a:t>SmartEdu</a:t>
            </a:r>
            <a:r>
              <a:rPr lang="en-US" sz="2000" b="1" dirty="0">
                <a:latin typeface="+mn-lt"/>
              </a:rPr>
              <a:t> – RAG Based AI Tutor </a:t>
            </a:r>
            <a:r>
              <a:rPr lang="en-US" sz="2000" b="1" dirty="0" smtClean="0">
                <a:latin typeface="+mn-lt"/>
              </a:rPr>
              <a:t>Platform</a:t>
            </a:r>
          </a:p>
          <a:p>
            <a:pPr algn="just"/>
            <a:endParaRPr lang="en-US" sz="2000" b="1" dirty="0">
              <a:latin typeface="+mn-lt"/>
            </a:endParaRPr>
          </a:p>
          <a:p>
            <a:pPr algn="just"/>
            <a:r>
              <a:rPr lang="en-US" sz="2000" dirty="0">
                <a:latin typeface="+mn-lt"/>
              </a:rPr>
              <a:t>The rapid growth of digital education has increased the need for intelligent learning systems that provide accurate and personalized academic support. Students often spend significant time searching through lecture notes, PDFs, PPTs, and other study materials to find relevant information. Traditional AI </a:t>
            </a:r>
            <a:r>
              <a:rPr lang="en-US" sz="2000" dirty="0" err="1">
                <a:latin typeface="+mn-lt"/>
              </a:rPr>
              <a:t>chatbots</a:t>
            </a:r>
            <a:r>
              <a:rPr lang="en-US" sz="2000" dirty="0">
                <a:latin typeface="+mn-lt"/>
              </a:rPr>
              <a:t> rely on pre-trained knowledge and may generate inaccurate or syllabus-independent responses, reducing the reliability of learning. Faculty also face challenges in managing and organizing educational resources for students. The task is to design, develop, and evaluate a </a:t>
            </a:r>
            <a:r>
              <a:rPr lang="en-US" sz="2000" b="1" dirty="0">
                <a:latin typeface="+mn-lt"/>
              </a:rPr>
              <a:t>Retrieval-Augmented Generation (RAG) based AI Tutor Platform</a:t>
            </a:r>
            <a:r>
              <a:rPr lang="en-US" sz="2000" dirty="0">
                <a:latin typeface="+mn-lt"/>
              </a:rPr>
              <a:t> that enables faculty to upload subject-specific study materials and allows students to receive accurate, context-aware answers, quizzes, and summaries based only on faculty-approved content. The goal is to create a reliable AI-powered educational platform that enhances learning efficiency, improves academic support, and provides personalized assistance for students in modern educational institutions.</a:t>
            </a:r>
          </a:p>
          <a:p>
            <a:pPr algn="just"/>
            <a:endParaRPr lang="en-IN" sz="2000" dirty="0">
              <a:latin typeface="+mn-lt"/>
            </a:endParaRPr>
          </a:p>
        </p:txBody>
      </p:sp>
      <p:sp>
        <p:nvSpPr>
          <p:cNvPr id="3" name="TextBox 2">
            <a:extLst>
              <a:ext uri="{FF2B5EF4-FFF2-40B4-BE49-F238E27FC236}">
                <a16:creationId xmlns:a16="http://schemas.microsoft.com/office/drawing/2014/main" id="{3847FA31-EA47-D27A-9D69-AF50A3080AEC}"/>
              </a:ext>
            </a:extLst>
          </p:cNvPr>
          <p:cNvSpPr txBox="1"/>
          <p:nvPr/>
        </p:nvSpPr>
        <p:spPr>
          <a:xfrm>
            <a:off x="351954" y="401529"/>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23880" y="674734"/>
            <a:ext cx="11131336" cy="4805867"/>
          </a:xfrm>
          <a:prstGeom prst="rect">
            <a:avLst/>
          </a:prstGeom>
          <a:noFill/>
        </p:spPr>
        <p:txBody>
          <a:bodyPr wrap="square" lIns="91440" tIns="45720" rIns="91440" bIns="45720" rtlCol="0" anchor="t">
            <a:spAutoFit/>
          </a:bodyPr>
          <a:lstStyle/>
          <a:p>
            <a:pPr algn="just"/>
            <a:endParaRPr lang="en-US" sz="2000" dirty="0" smtClean="0"/>
          </a:p>
          <a:p>
            <a:pPr algn="just"/>
            <a:r>
              <a:rPr lang="en-US" sz="2000" dirty="0" smtClean="0"/>
              <a:t>We </a:t>
            </a:r>
            <a:r>
              <a:rPr lang="en-US" sz="2000" dirty="0"/>
              <a:t>propose an AI-powered </a:t>
            </a:r>
            <a:r>
              <a:rPr lang="en-US" sz="2000" dirty="0" err="1"/>
              <a:t>SmartEdu</a:t>
            </a:r>
            <a:r>
              <a:rPr lang="en-US" sz="2000" dirty="0"/>
              <a:t> Tutor Platform using Retrieval-Augmented Generation (RAG), Google Gemini, FAISS, </a:t>
            </a:r>
            <a:r>
              <a:rPr lang="en-US" sz="2000" dirty="0" err="1"/>
              <a:t>FastAPI</a:t>
            </a:r>
            <a:r>
              <a:rPr lang="en-US" sz="2000" dirty="0"/>
              <a:t>, and React.</a:t>
            </a:r>
          </a:p>
          <a:p>
            <a:pPr algn="just"/>
            <a:r>
              <a:rPr lang="en-US" sz="2000" dirty="0"/>
              <a:t>Faculty members upload subject-specific study materials such as PDF, PPTX, and DOCX files through the platform. </a:t>
            </a:r>
          </a:p>
          <a:p>
            <a:pPr algn="just"/>
            <a:r>
              <a:rPr lang="en-US" sz="2000" dirty="0" smtClean="0"/>
              <a:t>The </a:t>
            </a:r>
            <a:r>
              <a:rPr lang="en-US" sz="2000" dirty="0"/>
              <a:t>uploaded documents are processed using text extraction, chunking, embedding generation with Sentence Transformers, and FAISS vector indexing to build subject-wise knowledge bases. </a:t>
            </a:r>
          </a:p>
          <a:p>
            <a:pPr algn="just"/>
            <a:r>
              <a:rPr lang="en-US" sz="2000" dirty="0" smtClean="0"/>
              <a:t>Students </a:t>
            </a:r>
            <a:r>
              <a:rPr lang="en-US" sz="2000" dirty="0"/>
              <a:t>select a subject and submit academic queries through the AI Tutor interface. </a:t>
            </a:r>
          </a:p>
          <a:p>
            <a:pPr algn="just"/>
            <a:r>
              <a:rPr lang="en-US" sz="2000" dirty="0"/>
              <a:t>The RAG pipeline retrieves the most relevant content from the selected subject, and Google Gemini generates accurate, context-aware responses based only on the retrieved faculty-approved materials. </a:t>
            </a:r>
          </a:p>
          <a:p>
            <a:pPr algn="just"/>
            <a:r>
              <a:rPr lang="en-US" sz="2000" dirty="0" smtClean="0"/>
              <a:t>The </a:t>
            </a:r>
            <a:r>
              <a:rPr lang="en-US" sz="2000" dirty="0"/>
              <a:t>platform also supports quiz generation, summary generation, chat history, and role-based access for Students, Faculty, and Administrators, providing a secure and personalized learning experience.</a:t>
            </a:r>
          </a:p>
          <a:p>
            <a:pPr algn="just" fontAlgn="base">
              <a:lnSpc>
                <a:spcPct val="150000"/>
              </a:lnSpc>
            </a:pPr>
            <a:endParaRPr lang="en-US" sz="2000" dirty="0"/>
          </a:p>
        </p:txBody>
      </p:sp>
      <p:sp>
        <p:nvSpPr>
          <p:cNvPr id="3" name="TextBox 2">
            <a:extLst>
              <a:ext uri="{FF2B5EF4-FFF2-40B4-BE49-F238E27FC236}">
                <a16:creationId xmlns:a16="http://schemas.microsoft.com/office/drawing/2014/main" id="{527F30CC-07EF-8FCC-DA00-C9212F5DAECE}"/>
              </a:ext>
            </a:extLst>
          </p:cNvPr>
          <p:cNvSpPr txBox="1"/>
          <p:nvPr/>
        </p:nvSpPr>
        <p:spPr>
          <a:xfrm>
            <a:off x="158538" y="203047"/>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016758"/>
          </a:xfrm>
          <a:prstGeom prst="rect">
            <a:avLst/>
          </a:prstGeom>
          <a:noFill/>
        </p:spPr>
        <p:txBody>
          <a:bodyPr wrap="square" lIns="91440" tIns="45720" rIns="91440" bIns="45720" rtlCol="0" anchor="t">
            <a:spAutoFit/>
          </a:bodyPr>
          <a:lstStyle/>
          <a:p>
            <a:endParaRPr lang="en-US" sz="2000" dirty="0"/>
          </a:p>
          <a:p>
            <a:pPr marL="285750" indent="-285750">
              <a:buFont typeface="Arial" panose="020B0604020202020204" pitchFamily="34" charset="0"/>
              <a:buChar char="•"/>
            </a:pPr>
            <a:r>
              <a:rPr lang="en-US" sz="2000" dirty="0"/>
              <a:t>IBM Cloud – It provides the infrastructure to build, deploy, and scale the Nutrition Agent efficiently. IBM Cloud enables a reliable, secure, and scalable environment for deploying the </a:t>
            </a:r>
            <a:r>
              <a:rPr lang="en-US" sz="2000" dirty="0" err="1"/>
              <a:t>Nutrion</a:t>
            </a:r>
            <a:r>
              <a:rPr lang="en-US" sz="2000" dirty="0"/>
              <a:t> agent</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ML Algorithm/ Model Used: </a:t>
            </a:r>
            <a:r>
              <a:rPr lang="en-IN" sz="2000" dirty="0"/>
              <a:t>Retrieval-Augmented Generation (RAG), Sentence Transformers, Google </a:t>
            </a:r>
            <a:r>
              <a:rPr lang="en-IN" sz="2000" dirty="0" smtClean="0"/>
              <a:t>Gemini</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Accuracy </a:t>
            </a:r>
            <a:r>
              <a:rPr lang="en-US" sz="2000" dirty="0" smtClean="0"/>
              <a:t>Obtained: </a:t>
            </a:r>
            <a:r>
              <a:rPr lang="en-US" sz="2000" dirty="0"/>
              <a:t>High Retrieval Accuracy and Context-Aware Response </a:t>
            </a:r>
            <a:r>
              <a:rPr lang="en-US" sz="2000" dirty="0" smtClean="0"/>
              <a:t>Generation</a:t>
            </a:r>
          </a:p>
          <a:p>
            <a:r>
              <a:rPr lang="en-US" sz="2000" dirty="0" smtClean="0"/>
              <a:t> </a:t>
            </a:r>
            <a:endParaRPr lang="en-US" sz="2000" dirty="0"/>
          </a:p>
          <a:p>
            <a:pPr marL="285750" indent="-285750">
              <a:buFont typeface="Arial" panose="020B0604020202020204" pitchFamily="34" charset="0"/>
              <a:buChar char="•"/>
            </a:pPr>
            <a:r>
              <a:rPr lang="en-US" sz="2000" dirty="0"/>
              <a:t>Enhancements and </a:t>
            </a:r>
            <a:r>
              <a:rPr lang="en-US" sz="2000" dirty="0" err="1"/>
              <a:t>Hyperparameter</a:t>
            </a:r>
            <a:r>
              <a:rPr lang="en-US" sz="2000" dirty="0"/>
              <a:t> tuning: </a:t>
            </a:r>
            <a:r>
              <a:rPr lang="en-US" sz="2000" dirty="0" smtClean="0"/>
              <a:t>F</a:t>
            </a:r>
            <a:r>
              <a:rPr lang="en-IN" sz="2000" dirty="0"/>
              <a:t>AISS Vector Indexing, Optimized Document Chunking, Semantic </a:t>
            </a:r>
            <a:r>
              <a:rPr lang="en-IN" sz="2000" dirty="0" err="1"/>
              <a:t>Embeddings</a:t>
            </a:r>
            <a:r>
              <a:rPr lang="en-IN" sz="2000" dirty="0"/>
              <a:t>, Prompt Engineering</a:t>
            </a:r>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endParaRPr lang="en-US" sz="2000" dirty="0"/>
          </a:p>
          <a:p>
            <a:endParaRPr lang="en-IN" sz="2000"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dirty="0">
                <a:sym typeface="Times New Roman"/>
              </a:rPr>
              <a:t>Training Screenshots-</a:t>
            </a:r>
            <a:endParaRPr sz="2400" b="1" dirty="0">
              <a:sym typeface="Times New Roman"/>
            </a:endParaRPr>
          </a:p>
        </p:txBody>
      </p:sp>
      <p:pic>
        <p:nvPicPr>
          <p:cNvPr id="6" name="Picture 5"/>
          <p:cNvPicPr>
            <a:picLocks noChangeAspect="1"/>
          </p:cNvPicPr>
          <p:nvPr/>
        </p:nvPicPr>
        <p:blipFill>
          <a:blip r:embed="rId3"/>
          <a:stretch>
            <a:fillRect/>
          </a:stretch>
        </p:blipFill>
        <p:spPr>
          <a:xfrm>
            <a:off x="537589" y="771747"/>
            <a:ext cx="11292461" cy="5752045"/>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dirty="0">
                <a:sym typeface="Times New Roman"/>
              </a:rPr>
              <a:t>Training Screenshots-</a:t>
            </a:r>
            <a:endParaRPr sz="2400" b="1" dirty="0">
              <a:sym typeface="Times New Roman"/>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7590" y="771747"/>
            <a:ext cx="11197210" cy="5686203"/>
          </a:xfrm>
          <a:prstGeom prst="rect">
            <a:avLst/>
          </a:prstGeom>
        </p:spPr>
      </p:pic>
    </p:spTree>
    <p:extLst>
      <p:ext uri="{BB962C8B-B14F-4D97-AF65-F5344CB8AC3E}">
        <p14:creationId xmlns:p14="http://schemas.microsoft.com/office/powerpoint/2010/main" val="12763200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400" b="1">
                <a:solidFill>
                  <a:schemeClr val="dk1"/>
                </a:solidFill>
                <a:latin typeface="Calibri"/>
                <a:ea typeface="Calibri"/>
                <a:cs typeface="Calibri"/>
              </a:rPr>
              <a:t>Best Model Screenshot:</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7590" y="952500"/>
            <a:ext cx="11254360" cy="54292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3E69E7BF-BEF2-458E-692A-A750B748D2BC}"/>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56959763-B5B5-22E5-733E-B3F05D391F6B}"/>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400" b="1">
                <a:solidFill>
                  <a:schemeClr val="dk1"/>
                </a:solidFill>
                <a:latin typeface="Calibri"/>
                <a:ea typeface="Calibri"/>
                <a:cs typeface="Calibri"/>
              </a:rPr>
              <a:t>Testing Screenshot:</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7590" y="914400"/>
            <a:ext cx="11273410" cy="5676900"/>
          </a:xfrm>
          <a:prstGeom prst="rect">
            <a:avLst/>
          </a:prstGeom>
        </p:spPr>
      </p:pic>
    </p:spTree>
    <p:extLst>
      <p:ext uri="{BB962C8B-B14F-4D97-AF65-F5344CB8AC3E}">
        <p14:creationId xmlns:p14="http://schemas.microsoft.com/office/powerpoint/2010/main" val="38666566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10" name="Rectangle 7"/>
          <p:cNvSpPr>
            <a:spLocks noChangeArrowheads="1"/>
          </p:cNvSpPr>
          <p:nvPr/>
        </p:nvSpPr>
        <p:spPr bwMode="auto">
          <a:xfrm>
            <a:off x="438150" y="1174225"/>
            <a:ext cx="1108710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smtClean="0">
                <a:ln>
                  <a:noFill/>
                </a:ln>
                <a:solidFill>
                  <a:schemeClr val="tx1"/>
                </a:solidFill>
                <a:effectLst/>
                <a:latin typeface="Arial" panose="020B0604020202020204" pitchFamily="34" charset="0"/>
              </a:rPr>
              <a:t>The proposed system provides accurate, context-aware answers by combining Retrieval-Augmented Generation (RAG) with Google Gemini, reducing inaccurate or hallucinated responses.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smtClean="0">
                <a:ln>
                  <a:noFill/>
                </a:ln>
                <a:solidFill>
                  <a:schemeClr val="tx1"/>
                </a:solidFill>
                <a:effectLst/>
                <a:latin typeface="Arial" panose="020B0604020202020204" pitchFamily="34" charset="0"/>
              </a:rPr>
              <a:t>It enables faculty-managed knowledge bases, allowing teachers to upload and organize subject-specific study materials for students.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smtClean="0">
                <a:ln>
                  <a:noFill/>
                </a:ln>
                <a:solidFill>
                  <a:schemeClr val="tx1"/>
                </a:solidFill>
                <a:effectLst/>
                <a:latin typeface="Arial" panose="020B0604020202020204" pitchFamily="34" charset="0"/>
              </a:rPr>
              <a:t>The platform performs subject-wise semantic retrieval using Sentence Transformers and FAISS, ensuring responses are generated only from the selected subject's learning resources.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smtClean="0">
                <a:ln>
                  <a:noFill/>
                </a:ln>
                <a:solidFill>
                  <a:schemeClr val="tx1"/>
                </a:solidFill>
                <a:effectLst/>
                <a:latin typeface="Arial" panose="020B0604020202020204" pitchFamily="34" charset="0"/>
              </a:rPr>
              <a:t>It integrates AI-powered quiz generation, summary generation, and chat history within a single educational platform, enhancing the overall learning experience.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smtClean="0">
                <a:ln>
                  <a:noFill/>
                </a:ln>
                <a:solidFill>
                  <a:schemeClr val="tx1"/>
                </a:solidFill>
                <a:effectLst/>
                <a:latin typeface="Arial" panose="020B0604020202020204" pitchFamily="34" charset="0"/>
              </a:rPr>
              <a:t>The system implements role-based access control for Students, Faculty, and Administrators, providing secure content management and personalized academic assistance. </a:t>
            </a:r>
          </a:p>
        </p:txBody>
      </p:sp>
    </p:spTree>
    <p:extLst>
      <p:ext uri="{BB962C8B-B14F-4D97-AF65-F5344CB8AC3E}">
        <p14:creationId xmlns:p14="http://schemas.microsoft.com/office/powerpoint/2010/main" val="917964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3" y="1153712"/>
            <a:ext cx="9908821"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endParaRPr lang="en-US" sz="2000" dirty="0" smtClean="0">
              <a:solidFill>
                <a:srgbClr val="2B3541"/>
              </a:solidFill>
              <a:latin typeface="+mj-lt"/>
              <a:ea typeface="Times New Roman"/>
              <a:cs typeface="Times New Roman"/>
              <a:sym typeface="Times New Roman"/>
            </a:endParaRPr>
          </a:p>
          <a:p>
            <a:pPr lvl="0">
              <a:lnSpc>
                <a:spcPct val="162162"/>
              </a:lnSpc>
              <a:buClr>
                <a:srgbClr val="2B3541"/>
              </a:buClr>
              <a:buSzPts val="1850"/>
            </a:pPr>
            <a:r>
              <a:rPr lang="en-US" sz="2000" dirty="0" err="1" smtClean="0">
                <a:solidFill>
                  <a:srgbClr val="2B3541"/>
                </a:solidFill>
                <a:latin typeface="+mj-lt"/>
                <a:ea typeface="Times New Roman"/>
                <a:cs typeface="Times New Roman"/>
                <a:sym typeface="Times New Roman"/>
              </a:rPr>
              <a:t>Github</a:t>
            </a:r>
            <a:r>
              <a:rPr lang="en-US" sz="2000" dirty="0" smtClean="0">
                <a:solidFill>
                  <a:srgbClr val="2B3541"/>
                </a:solidFill>
                <a:latin typeface="+mj-lt"/>
                <a:ea typeface="Times New Roman"/>
                <a:cs typeface="Times New Roman"/>
                <a:sym typeface="Times New Roman"/>
              </a:rPr>
              <a:t> </a:t>
            </a:r>
            <a:r>
              <a:rPr lang="en-US" sz="2000" dirty="0">
                <a:solidFill>
                  <a:srgbClr val="2B3541"/>
                </a:solidFill>
                <a:latin typeface="+mj-lt"/>
                <a:ea typeface="Times New Roman"/>
                <a:cs typeface="Times New Roman"/>
                <a:sym typeface="Times New Roman"/>
              </a:rPr>
              <a:t>URL – https://github.com/DharaniPulkaram7/RAG-Based-AI-Tutor-Chatbot.git</a:t>
            </a:r>
            <a:endParaRPr lang="en-US" sz="2000" dirty="0" smtClean="0">
              <a:solidFill>
                <a:srgbClr val="2B3541"/>
              </a:solidFill>
              <a:latin typeface="+mj-lt"/>
              <a:ea typeface="Times New Roman"/>
              <a:cs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2000" b="0" i="0" u="none" strike="noStrike" cap="none" dirty="0">
              <a:solidFill>
                <a:srgbClr val="000000"/>
              </a:solidFill>
              <a:latin typeface="+mj-lt"/>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7586766" y="7924349"/>
            <a:ext cx="4065262" cy="45719"/>
          </a:xfrm>
          <a:prstGeom prst="rect">
            <a:avLst/>
          </a:prstGeom>
          <a:noFill/>
          <a:ln>
            <a:noFill/>
          </a:ln>
        </p:spPr>
        <p:txBody>
          <a:bodyPr spcFirstLastPara="1" wrap="square" lIns="0" tIns="0" rIns="0" bIns="0" anchor="t" anchorCtr="0">
            <a:noAutofit/>
          </a:bodyPr>
          <a:lstStyle/>
          <a:p>
            <a:pPr marL="0" marR="0" lvl="0" indent="0" algn="l">
              <a:lnSpc>
                <a:spcPct val="150000"/>
              </a:lnSpc>
              <a:spcBef>
                <a:spcPts val="0"/>
              </a:spcBef>
              <a:spcAft>
                <a:spcPts val="0"/>
              </a:spcAft>
              <a:buSzPts val="1850"/>
              <a:buFont typeface="Times New Roman"/>
              <a:buNone/>
            </a:pPr>
            <a:endParaRPr lang="en-US" sz="1850" b="1" dirty="0">
              <a:solidFill>
                <a:srgbClr val="2B3541"/>
              </a:solidFill>
              <a:latin typeface="Times New Roman"/>
              <a:cs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3" name="Rectangle 2"/>
          <p:cNvSpPr>
            <a:spLocks noChangeArrowheads="1"/>
          </p:cNvSpPr>
          <p:nvPr/>
        </p:nvSpPr>
        <p:spPr bwMode="auto">
          <a:xfrm rot="10800000" flipV="1">
            <a:off x="932974" y="880867"/>
            <a:ext cx="10433304"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Arial" panose="020B0604020202020204" pitchFamily="34" charset="0"/>
              </a:rPr>
              <a:t>The platform can be integrated with </a:t>
            </a:r>
            <a:r>
              <a:rPr kumimoji="0" lang="en-US" altLang="en-US" sz="2000" b="1" i="0" u="none" strike="noStrike" cap="none" normalizeH="0" baseline="0" dirty="0" smtClean="0">
                <a:ln>
                  <a:noFill/>
                </a:ln>
                <a:solidFill>
                  <a:schemeClr val="tx1"/>
                </a:solidFill>
                <a:effectLst/>
                <a:latin typeface="Arial" panose="020B0604020202020204" pitchFamily="34" charset="0"/>
              </a:rPr>
              <a:t>Learning Management Systems (LMS)</a:t>
            </a:r>
            <a:r>
              <a:rPr kumimoji="0" lang="en-US" altLang="en-US" sz="2000" b="0" i="0" u="none" strike="noStrike" cap="none" normalizeH="0" baseline="0" dirty="0" smtClean="0">
                <a:ln>
                  <a:noFill/>
                </a:ln>
                <a:solidFill>
                  <a:schemeClr val="tx1"/>
                </a:solidFill>
                <a:effectLst/>
                <a:latin typeface="Arial" panose="020B0604020202020204" pitchFamily="34" charset="0"/>
              </a:rPr>
              <a:t> such as Moodle and Google Classroom to provide seamless access to course materials.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Arial" panose="020B0604020202020204" pitchFamily="34" charset="0"/>
              </a:rPr>
              <a:t>Support for </a:t>
            </a:r>
            <a:r>
              <a:rPr kumimoji="0" lang="en-US" altLang="en-US" sz="2000" b="1" i="0" u="none" strike="noStrike" cap="none" normalizeH="0" baseline="0" dirty="0" smtClean="0">
                <a:ln>
                  <a:noFill/>
                </a:ln>
                <a:solidFill>
                  <a:schemeClr val="tx1"/>
                </a:solidFill>
                <a:effectLst/>
                <a:latin typeface="Arial" panose="020B0604020202020204" pitchFamily="34" charset="0"/>
              </a:rPr>
              <a:t>multilingual tutoring and voice-based interaction</a:t>
            </a:r>
            <a:r>
              <a:rPr kumimoji="0" lang="en-US" altLang="en-US" sz="2000" b="0" i="0" u="none" strike="noStrike" cap="none" normalizeH="0" baseline="0" dirty="0" smtClean="0">
                <a:ln>
                  <a:noFill/>
                </a:ln>
                <a:solidFill>
                  <a:schemeClr val="tx1"/>
                </a:solidFill>
                <a:effectLst/>
                <a:latin typeface="Arial" panose="020B0604020202020204" pitchFamily="34" charset="0"/>
              </a:rPr>
              <a:t> can be added to make </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smtClean="0">
                <a:ln>
                  <a:noFill/>
                </a:ln>
                <a:solidFill>
                  <a:schemeClr val="tx1"/>
                </a:solidFill>
                <a:effectLst/>
                <a:latin typeface="Arial" panose="020B0604020202020204" pitchFamily="34" charset="0"/>
              </a:rPr>
              <a:t>the system accessible to a wider range of students.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Arial" panose="020B0604020202020204" pitchFamily="34" charset="0"/>
              </a:rPr>
              <a:t>Advanced AI models can be integrated to provide </a:t>
            </a:r>
            <a:r>
              <a:rPr kumimoji="0" lang="en-US" altLang="en-US" sz="2000" b="1" i="0" u="none" strike="noStrike" cap="none" normalizeH="0" baseline="0" dirty="0" smtClean="0">
                <a:ln>
                  <a:noFill/>
                </a:ln>
                <a:solidFill>
                  <a:schemeClr val="tx1"/>
                </a:solidFill>
                <a:effectLst/>
                <a:latin typeface="Arial" panose="020B0604020202020204" pitchFamily="34" charset="0"/>
              </a:rPr>
              <a:t>personalized learning recommendations</a:t>
            </a:r>
            <a:r>
              <a:rPr kumimoji="0" lang="en-US" altLang="en-US" sz="2000" b="0" i="0" u="none" strike="noStrike" cap="none" normalizeH="0" baseline="0" dirty="0" smtClean="0">
                <a:ln>
                  <a:noFill/>
                </a:ln>
                <a:solidFill>
                  <a:schemeClr val="tx1"/>
                </a:solidFill>
                <a:effectLst/>
                <a:latin typeface="Arial" panose="020B0604020202020204" pitchFamily="34" charset="0"/>
              </a:rPr>
              <a:t>, adaptive quizzes, and performance-based study plans.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Arial" panose="020B0604020202020204" pitchFamily="34" charset="0"/>
              </a:rPr>
              <a:t>Real-time analytics and student progress tracking can be incorporated to help faculty monitor learning outcomes and identify students requiring additional support.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Arial" panose="020B0604020202020204" pitchFamily="34" charset="0"/>
              </a:rPr>
              <a:t>The platform can be deployed across multiple educational institutions as a </a:t>
            </a:r>
            <a:r>
              <a:rPr kumimoji="0" lang="en-US" altLang="en-US" sz="2000" b="1" i="0" u="none" strike="noStrike" cap="none" normalizeH="0" baseline="0" dirty="0" smtClean="0">
                <a:ln>
                  <a:noFill/>
                </a:ln>
                <a:solidFill>
                  <a:schemeClr val="tx1"/>
                </a:solidFill>
                <a:effectLst/>
                <a:latin typeface="Arial" panose="020B0604020202020204" pitchFamily="34" charset="0"/>
              </a:rPr>
              <a:t>scalable cloud-based AI learning solution</a:t>
            </a:r>
            <a:r>
              <a:rPr kumimoji="0" lang="en-US" altLang="en-US" sz="2000" b="0" i="0" u="none" strike="noStrike" cap="none" normalizeH="0" baseline="0" dirty="0" smtClean="0">
                <a:ln>
                  <a:noFill/>
                </a:ln>
                <a:solidFill>
                  <a:schemeClr val="tx1"/>
                </a:solidFill>
                <a:effectLst/>
                <a:latin typeface="Arial" panose="020B0604020202020204" pitchFamily="34" charset="0"/>
              </a:rPr>
              <a:t>, enabling secure and efficient digital education. </a:t>
            </a:r>
          </a:p>
        </p:txBody>
      </p:sp>
    </p:spTree>
    <p:extLst>
      <p:ext uri="{BB962C8B-B14F-4D97-AF65-F5344CB8AC3E}">
        <p14:creationId xmlns:p14="http://schemas.microsoft.com/office/powerpoint/2010/main" val="2136706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1C488599-1CDB-6479-4ED5-FDEEC38049D9}"/>
                  </a:ext>
                </a:extLst>
              </p14:cNvPr>
              <p14:cNvContentPartPr/>
              <p14:nvPr/>
            </p14:nvContentPartPr>
            <p14:xfrm>
              <a:off x="3048334" y="3639298"/>
              <a:ext cx="3513095" cy="16098"/>
            </p14:xfrm>
          </p:contentPart>
        </mc:Choice>
        <mc:Fallback xmlns="">
          <p:pic>
            <p:nvPicPr>
              <p:cNvPr id="2" name="Ink 1">
                <a:extLst>
                  <a:ext uri="{FF2B5EF4-FFF2-40B4-BE49-F238E27FC236}">
                    <a16:creationId xmlns:a16="http://schemas.microsoft.com/office/drawing/2014/main" id="{1C488599-1CDB-6479-4ED5-FDEEC38049D9}"/>
                  </a:ext>
                </a:extLst>
              </p:cNvPr>
              <p:cNvPicPr/>
              <p:nvPr/>
            </p:nvPicPr>
            <p:blipFill>
              <a:blip r:embed="rId4"/>
              <a:stretch>
                <a:fillRect/>
              </a:stretch>
            </p:blipFill>
            <p:spPr>
              <a:xfrm>
                <a:off x="3030337" y="2834398"/>
                <a:ext cx="3548730" cy="1609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66AD5D31-EDA5-2C50-7CE9-7D1E60A89F54}"/>
                  </a:ext>
                </a:extLst>
              </p14:cNvPr>
              <p14:cNvContentPartPr/>
              <p14:nvPr/>
            </p14:nvContentPartPr>
            <p14:xfrm>
              <a:off x="3338890" y="3210002"/>
              <a:ext cx="3042822" cy="16098"/>
            </p14:xfrm>
          </p:contentPart>
        </mc:Choice>
        <mc:Fallback xmlns="">
          <p:pic>
            <p:nvPicPr>
              <p:cNvPr id="5" name="Ink 4">
                <a:extLst>
                  <a:ext uri="{FF2B5EF4-FFF2-40B4-BE49-F238E27FC236}">
                    <a16:creationId xmlns:a16="http://schemas.microsoft.com/office/drawing/2014/main" id="{66AD5D31-EDA5-2C50-7CE9-7D1E60A89F54}"/>
                  </a:ext>
                </a:extLst>
              </p:cNvPr>
              <p:cNvPicPr/>
              <p:nvPr/>
            </p:nvPicPr>
            <p:blipFill>
              <a:blip r:embed="rId6"/>
              <a:stretch>
                <a:fillRect/>
              </a:stretch>
            </p:blipFill>
            <p:spPr>
              <a:xfrm>
                <a:off x="3320892" y="2405102"/>
                <a:ext cx="3078459" cy="1609800"/>
              </a:xfrm>
              <a:prstGeom prst="rect">
                <a:avLst/>
              </a:prstGeom>
            </p:spPr>
          </p:pic>
        </mc:Fallback>
      </mc:AlternateContent>
      <p:pic>
        <p:nvPicPr>
          <p:cNvPr id="4" name="Picture 3"/>
          <p:cNvPicPr>
            <a:picLocks noChangeAspect="1"/>
          </p:cNvPicPr>
          <p:nvPr/>
        </p:nvPicPr>
        <p:blipFill>
          <a:blip r:embed="rId7"/>
          <a:stretch>
            <a:fillRect/>
          </a:stretch>
        </p:blipFill>
        <p:spPr>
          <a:xfrm>
            <a:off x="914400" y="1367169"/>
            <a:ext cx="8764172" cy="5896798"/>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4906" y="1345828"/>
            <a:ext cx="8975186" cy="5040904"/>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202</TotalTime>
  <Words>731</Words>
  <Application>Microsoft Office PowerPoint</Application>
  <PresentationFormat>Widescreen</PresentationFormat>
  <Paragraphs>77</Paragraphs>
  <Slides>15</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User</cp:lastModifiedBy>
  <cp:revision>14</cp:revision>
  <dcterms:created xsi:type="dcterms:W3CDTF">2025-07-08T05:06:56Z</dcterms:created>
  <dcterms:modified xsi:type="dcterms:W3CDTF">2026-07-07T04:37:15Z</dcterms:modified>
</cp:coreProperties>
</file>